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맑은 고딕"/>
              </a:rPr>
              <a:t>ORION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BDD7EE"/>
                </a:solidFill>
                <a:latin typeface="맑은 고딕"/>
              </a:rPr>
              <a:t>AI 추론에서의 계층적 메모리 오케스트레이션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BDD7EE"/>
                </a:solidFill>
                <a:latin typeface="맑은 고딕"/>
              </a:rPr>
              <a:t>운영 레짐별 내재적 한계 규명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97480"/>
            <a:ext cx="3657600" cy="381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DD7EE"/>
                </a:solidFill>
                <a:latin typeface="맑은 고딕"/>
              </a:rPr>
              <a:t>Nature Computational Science  ·  심사 중  ·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임근식 외  |  삼성전자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257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맑은 고딕"/>
              </a:rPr>
              <a:t>사내 공유 — 관련 연구 부서 및 동료 연구원 대상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623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D7D31"/>
                </a:solidFill>
                <a:latin typeface="맑은 고딕"/>
              </a:rPr>
              <a:t>대외비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연구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D7EE"/>
                </a:solidFill>
                <a:latin typeface="Calibri"/>
              </a:rPr>
              <a:t>왜 메모리 오케스트레이션이 중요한가?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사내 공유용 (대외비)  |  ORION 프로젝트  |  Nature Computational Science (심사 중)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0312" y="655624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900">
                <a:solidFill>
                  <a:srgbClr val="404040"/>
                </a:solidFill>
                <a:latin typeface="Calibri"/>
              </a:rPr>
              <a:t>  • 최신 LLM은 GPU VRAM 초과 → 가중치가 호스트 DRAM / NVMe로 스필아웃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404040"/>
                </a:solidFill>
                <a:latin typeface="Calibri"/>
              </a:rPr>
              <a:t>  • 추론 비용이 파운데이션 모델 전체 자원 발자국의 대부분을 차지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404040"/>
                </a:solidFill>
                <a:latin typeface="Calibri"/>
              </a:rPr>
              <a:t>  • 연산 처리량이 아닌 메모리 대역폭·용량이 핵심 병목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404040"/>
                </a:solidFill>
                <a:latin typeface="Calibri"/>
              </a:rPr>
              <a:t>  • I/O 제한 영역에서 운영 시 최적 대비 성능/전력비 3배 이상 저하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404040"/>
                </a:solidFill>
                <a:latin typeface="Calibri"/>
              </a:rPr>
              <a:t>  • CO₂ 패널티: IEA 2024 기준 100만 토큰당 15.8g → 42.5g으로 급증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566160"/>
            <a:ext cx="11338560" cy="256032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703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5B6"/>
                </a:solidFill>
                <a:latin typeface="맑은 고딕"/>
              </a:rPr>
              <a:t>핵심 연구 질문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56E"/>
                </a:solidFill>
                <a:latin typeface="맑은 고딕"/>
              </a:rPr>
              <a:t>계층적 메모리 오케스트레이션은 연속적으로 최적화 가능한 문제인가,
아니면 추가적인 협조가 오히려 지연 시간을 악화시키는
내재적 경계가 존재하는가?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세 가지 운영 레짐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D7EE"/>
                </a:solidFill>
                <a:latin typeface="Calibri"/>
              </a:rPr>
              <a:t>두 개의 무차원 제어 비율로 정의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사내 공유용 (대외비)  |  ORION 프로젝트  |  Nature Computational Science (심사 중)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0312" y="655624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3657600" cy="10058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빠른 메모리 수용 비율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4592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Rᴄ = Cfast / 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143000"/>
            <a:ext cx="3840480" cy="10058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2344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전송 압력 비율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645920"/>
            <a:ext cx="3840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Rʙ = Bslow · Δt / 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234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D7D31"/>
                </a:solidFill>
                <a:latin typeface="Calibri"/>
              </a:rPr>
              <a:t>θᴄ ≈ 0.50    θʙ ≈ 0.40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04040"/>
                </a:solidFill>
                <a:latin typeface="맑은 고딕"/>
              </a:rPr>
              <a:t>실험적으로 보정된 임계값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286000"/>
            <a:ext cx="3520440" cy="3474720"/>
          </a:xfrm>
          <a:prstGeom prst="rect">
            <a:avLst/>
          </a:prstGeom>
          <a:solidFill>
            <a:srgbClr val="FFE6CC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2286000"/>
            <a:ext cx="3520440" cy="3474720"/>
          </a:xfrm>
          <a:prstGeom prst="rect">
            <a:avLst/>
          </a:prstGeom>
          <a:solidFill>
            <a:srgbClr val="E2EFDA"/>
          </a:solidFill>
          <a:ln w="254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2286000"/>
            <a:ext cx="3520440" cy="3474720"/>
          </a:xfrm>
          <a:prstGeom prst="rect">
            <a:avLst/>
          </a:prstGeom>
          <a:solidFill>
            <a:srgbClr val="FFE0E0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37744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56E"/>
                </a:solidFill>
                <a:latin typeface="맑은 고딕"/>
              </a:rPr>
              <a:t>① 용량 제한 레짐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834640"/>
            <a:ext cx="3246120" cy="3657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8529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Rᴄ &lt; θᴄ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291840"/>
            <a:ext cx="3246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04040"/>
                </a:solidFill>
                <a:latin typeface="맑은 고딕"/>
              </a:rPr>
              <a:t>빠른 메모리가 작업 세트를 수용 불가.
빈번한 축출 및 재로드 발생.
오케스트레이션 효과 ≤ 5%.
해결책: HBM 증설 또는 양자화.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37744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56E"/>
                </a:solidFill>
                <a:latin typeface="맑은 고딕"/>
              </a:rPr>
              <a:t>② 조율 주도 레짐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2834640"/>
            <a:ext cx="3246120" cy="36576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8529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Rᴄ ≥ θᴄ  and  Rʙ ≥ θʙ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291840"/>
            <a:ext cx="3246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04040"/>
                </a:solidFill>
                <a:latin typeface="맑은 고딕"/>
              </a:rPr>
              <a:t>4가지 지연 항이 균형 잡힘.
오케스트레이션 효과 최대.
18–27% 지연 감소 달성 가능.
FlexGen, vLLM, Orion의 설계 영역.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237744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56E"/>
                </a:solidFill>
                <a:latin typeface="맑은 고딕"/>
              </a:rPr>
              <a:t>③ I/O 제한 레짐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2834640"/>
            <a:ext cx="3246120" cy="3657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28529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Rʙ &lt; θʙ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291840"/>
            <a:ext cx="3246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04040"/>
                </a:solidFill>
                <a:latin typeface="맑은 고딕"/>
              </a:rPr>
              <a:t>PCIe 대역폭 포화 상태.
추가 협조는 오버헤드만 증가.
공격적 오프로딩 8–12% 악화.
해결책: 전송량 D 자체를 줄여야.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분석 모델 및 구조적 하한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D7EE"/>
                </a:solidFill>
                <a:latin typeface="Calibri"/>
              </a:rPr>
              <a:t>논문 수식 1–3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사내 공유용 (대외비)  |  ORION 프로젝트  |  Nature Computational Science (심사 중)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0312" y="655624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1463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  <a:latin typeface="맑은 고딕"/>
              </a:rPr>
              <a:t>지연 시간 분해 (수식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A356E"/>
                </a:solidFill>
                <a:latin typeface="Calibri"/>
              </a:rPr>
              <a:t>T_total  =  T_comp  +  T_mem  +  T_swap  +  T_sync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43200"/>
            <a:ext cx="11430000" cy="1463040"/>
          </a:xfrm>
          <a:prstGeom prst="rect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788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맑은 고딕"/>
              </a:rPr>
              <a:t>구조적 하한 (수식 3) — 오케스트레이션 정책과 무관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08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A356E"/>
                </a:solidFill>
                <a:latin typeface="Calibri"/>
              </a:rPr>
              <a:t>T_total  ≥  ρ·W·max(0, 1−Rᴄ)  +  D / Bslow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434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404040"/>
                </a:solidFill>
                <a:latin typeface="Calibri"/>
              </a:rPr>
              <a:t>  • 첫째 항: 어떤 축출 정책에서도 불가피한 메모리 접근 페널티 (Mattson 1970)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404040"/>
                </a:solidFill>
                <a:latin typeface="Calibri"/>
              </a:rPr>
              <a:t>  • 둘째 항: D 필수 바이트 전송에 필요한 최소 DMA 시간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404040"/>
                </a:solidFill>
                <a:latin typeface="Calibri"/>
              </a:rPr>
              <a:t>  • T_sync 제외 — 줄일 수 있지만 0으로 만들 수 없는 협조 오버헤드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404040"/>
                </a:solidFill>
                <a:latin typeface="Calibri"/>
              </a:rPr>
              <a:t>  • Orion은 하한의 86–92%에 도달; 나머지 8–14% ≈ 줄일 수 없는 T_sync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계산 예시 — A100 80GB에서 Llama-3 8B 추론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D7EE"/>
                </a:solidFill>
                <a:latin typeface="Calibri"/>
              </a:rPr>
              <a:t>데이터시트 + 모델 카드만으로 배포 전 사전 진단 가능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사내 공유용 (대외비)  |  ORION 프로젝트  |  Nature Computational Science (심사 중)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0312" y="655624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맑은 고딕"/>
              </a:rPr>
              <a:t>하드웨어 + 모델 파라미터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600200"/>
            <a:ext cx="5029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맑은 고딕"/>
              </a:rPr>
              <a:t>W (작업 세트 크기)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645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56E"/>
                </a:solidFill>
                <a:latin typeface="Calibri"/>
              </a:rPr>
              <a:t>41.8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4767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맑은 고딕"/>
              </a:rPr>
              <a:t>파라미터 16 + 활성화 17.2 + KV 캐시 8.6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77440"/>
            <a:ext cx="5029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맑은 고딕"/>
              </a:rPr>
              <a:t>Cfast (HBM)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4231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56E"/>
                </a:solidFill>
                <a:latin typeface="Calibri"/>
              </a:rPr>
              <a:t>80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72491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맑은 고딕"/>
              </a:rPr>
              <a:t>A100 80GB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54680"/>
            <a:ext cx="5029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200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맑은 고딕"/>
              </a:rPr>
              <a:t>Bslow (PCIe Gen4)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200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56E"/>
                </a:solidFill>
                <a:latin typeface="Calibri"/>
              </a:rPr>
              <a:t>16.1 GB/s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50215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맑은 고딕"/>
              </a:rPr>
              <a:t>호스트→장치 지속 대역폭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31920"/>
            <a:ext cx="5029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977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맑은 고딕"/>
              </a:rPr>
              <a:t>D (스텝당)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39776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56E"/>
                </a:solidFill>
                <a:latin typeface="Calibri"/>
              </a:rPr>
              <a:t>1.2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7939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맑은 고딕"/>
              </a:rPr>
              <a:t>필수 전송량; Rᴄ &gt;&gt; θᴄ이므로 소량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709160"/>
            <a:ext cx="5029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754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맑은 고딕"/>
              </a:rPr>
              <a:t>Δt (스텝 소요 시간)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754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56E"/>
                </a:solidFill>
                <a:latin typeface="Calibri"/>
              </a:rPr>
              <a:t>120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05663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맑은 고딕"/>
              </a:rPr>
              <a:t>실측 벽시계 시간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1143000"/>
            <a:ext cx="5852160" cy="5029200"/>
          </a:xfrm>
          <a:prstGeom prst="rect">
            <a:avLst/>
          </a:prstGeom>
          <a:solidFill>
            <a:srgbClr val="E2E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78644"/>
                </a:solidFill>
                <a:latin typeface="맑은 고딕"/>
              </a:rPr>
              <a:t>계산된 비율 및 레짐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1600200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1645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56E"/>
                </a:solidFill>
                <a:latin typeface="맑은 고딕"/>
              </a:rPr>
              <a:t>Rᴄ = Cfast /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1947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5B6"/>
                </a:solidFill>
                <a:latin typeface="Calibri"/>
              </a:rPr>
              <a:t>= 80 / 41.8 = 1.92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22860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78644"/>
                </a:solidFill>
                <a:latin typeface="맑은 고딕"/>
              </a:rPr>
              <a:t>&gt;&gt; θᴄ = 0.50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2788920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56E"/>
                </a:solidFill>
                <a:latin typeface="맑은 고딕"/>
              </a:rPr>
              <a:t>Rʙ = Bslow·Δt / 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1363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5B6"/>
                </a:solidFill>
                <a:latin typeface="Calibri"/>
              </a:rPr>
              <a:t>= 16.1×0.12 / 1.2 = 1.61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47472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78644"/>
                </a:solidFill>
                <a:latin typeface="맑은 고딕"/>
              </a:rPr>
              <a:t>&gt;&gt; θʙ = 0.40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3977640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4023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56E"/>
                </a:solidFill>
                <a:latin typeface="맑은 고딕"/>
              </a:rPr>
              <a:t>운영 레짐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43251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5B6"/>
                </a:solidFill>
                <a:latin typeface="Calibri"/>
              </a:rPr>
              <a:t>조율 주도 레짐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46634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78644"/>
                </a:solidFill>
                <a:latin typeface="맑은 고딕"/>
              </a:rPr>
              <a:t>오케스트레이션 효과적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핵심 결과 — 전략 순위 역전 (Table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D7EE"/>
                </a:solidFill>
                <a:latin typeface="Calibri"/>
              </a:rPr>
              <a:t>동일한 방법이 한 레짐에서는 도움이 되고 다른 레짐에서는 악화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사내 공유용 (대외비)  |  ORION 프로젝트  |  Nature Computational Science (심사 중)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0312" y="655624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11612880" cy="45720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07008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207008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용량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207008"/>
            <a:ext cx="3108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조율 주도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207008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I/O 제한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645920"/>
            <a:ext cx="1161288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04040"/>
                </a:solidFill>
                <a:latin typeface="맑은 고딕"/>
              </a:rPr>
              <a:t>PyTorch (기준선)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17373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04040"/>
                </a:solidFill>
                <a:latin typeface="Calibri"/>
              </a:rPr>
              <a:t>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737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04040"/>
                </a:solidFill>
                <a:latin typeface="Calibri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7373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04040"/>
                </a:solidFill>
                <a:latin typeface="Calibri"/>
              </a:rPr>
              <a:t>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304288"/>
            <a:ext cx="11612880" cy="640080"/>
          </a:xfrm>
          <a:prstGeom prst="rect">
            <a:avLst/>
          </a:prstGeom>
          <a:solidFill>
            <a:srgbClr val="FFF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39572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04040"/>
                </a:solidFill>
                <a:latin typeface="맑은 고딕"/>
              </a:rPr>
              <a:t>FlexGen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39572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04040"/>
                </a:solidFill>
                <a:latin typeface="Calibri"/>
              </a:rPr>
              <a:t>−1.5%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39572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0000"/>
                </a:solidFill>
                <a:latin typeface="Calibri"/>
              </a:rPr>
              <a:t>+24.0%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39572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78644"/>
                </a:solidFill>
                <a:latin typeface="Calibri"/>
              </a:rPr>
              <a:t>−8.0%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962656"/>
            <a:ext cx="11612880" cy="640080"/>
          </a:xfrm>
          <a:prstGeom prst="rect">
            <a:avLst/>
          </a:prstGeom>
          <a:solidFill>
            <a:srgbClr val="FFF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0540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04040"/>
                </a:solidFill>
                <a:latin typeface="맑은 고딕"/>
              </a:rPr>
              <a:t>DeepSpeed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054096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04040"/>
                </a:solidFill>
                <a:latin typeface="Calibri"/>
              </a:rPr>
              <a:t>−2.0%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32120" y="305409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0000"/>
                </a:solidFill>
                <a:latin typeface="Calibri"/>
              </a:rPr>
              <a:t>+18.0%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305409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04040"/>
                </a:solidFill>
                <a:latin typeface="Calibri"/>
              </a:rPr>
              <a:t>−5.0%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621024"/>
            <a:ext cx="116128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71246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04040"/>
                </a:solidFill>
                <a:latin typeface="맑은 고딕"/>
              </a:rPr>
              <a:t>SwapAdvisor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3712464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04040"/>
                </a:solidFill>
                <a:latin typeface="Calibri"/>
              </a:rPr>
              <a:t>−0.5%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371246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78644"/>
                </a:solidFill>
                <a:latin typeface="Calibri"/>
              </a:rPr>
              <a:t>−10.0%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37124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0000"/>
                </a:solidFill>
                <a:latin typeface="Calibri"/>
              </a:rPr>
              <a:t>+5.0%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279392"/>
            <a:ext cx="1161288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437083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04040"/>
                </a:solidFill>
                <a:latin typeface="맑은 고딕"/>
              </a:rPr>
              <a:t>vLLM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3708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0000"/>
                </a:solidFill>
                <a:latin typeface="Calibri"/>
              </a:rPr>
              <a:t>+1.0%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2120" y="437083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78644"/>
                </a:solidFill>
                <a:latin typeface="Calibri"/>
              </a:rPr>
              <a:t>−13.0%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437083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78644"/>
                </a:solidFill>
                <a:latin typeface="Calibri"/>
              </a:rPr>
              <a:t>−6.0%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937760"/>
            <a:ext cx="116128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5029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56E"/>
                </a:solidFill>
                <a:latin typeface="맑은 고딕"/>
              </a:rPr>
              <a:t>Orion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7480" y="50292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04040"/>
                </a:solidFill>
                <a:latin typeface="Calibri"/>
              </a:rPr>
              <a:t>−4.0%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50292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78644"/>
                </a:solidFill>
                <a:latin typeface="Calibri"/>
              </a:rPr>
              <a:t>−20.5%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23960" y="5029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78644"/>
                </a:solidFill>
                <a:latin typeface="Calibri"/>
              </a:rPr>
              <a:t>−10.5%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608076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04040"/>
                </a:solidFill>
                <a:latin typeface="맑은 고딕"/>
              </a:rPr>
              <a:t>↑ 빨강 = 지연 증가 (기준선 대비 악화)    ↓ 초록 = 5% 이상 개선
FlexGen: 조율 주도 레짐에서 −24% → I/O 제한 레짐에서 +8–12%로 완전 역전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워크로드 일반성 — LLM을 넘어 (Table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D7EE"/>
                </a:solidFill>
                <a:latin typeface="Calibri"/>
              </a:rPr>
              <a:t>BLIP2  ·  RAG  ·  YOLOv8 모두 세 가지 레짐 구조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사내 공유용 (대외비)  |  ORION 프로젝트  |  Nature Computational Science (심사 중)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0312" y="655624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3657600" cy="502920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56E"/>
                </a:solidFill>
                <a:latin typeface="맑은 고딕"/>
              </a:rPr>
              <a:t>BLIP2-VQA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맑은 고딕"/>
              </a:rPr>
              <a:t>시각 질의응답
(비전+언어 융합 모델)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23160"/>
            <a:ext cx="3383280" cy="41148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44144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조율 주도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986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5B6"/>
                </a:solidFill>
                <a:latin typeface="Calibri"/>
              </a:rPr>
              <a:t>Rc=0.62  Rb=1.10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375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04040"/>
                </a:solidFill>
                <a:latin typeface="Calibri"/>
              </a:rPr>
              <a:t>FlexGen: +24%
vLLM: −13%
Orion: −20.5%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188720"/>
            <a:ext cx="3657600" cy="502920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2801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56E"/>
                </a:solidFill>
                <a:latin typeface="맑은 고딕"/>
              </a:rPr>
              <a:t>RAG
(Llama-3)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8288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맑은 고딕"/>
              </a:rPr>
              <a:t>검색 증강 생성
(밀집 검색 + 디코딩)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2423160"/>
            <a:ext cx="3383280" cy="41148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244144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조율 주도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8986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5B6"/>
                </a:solidFill>
                <a:latin typeface="Calibri"/>
              </a:rPr>
              <a:t>Rc=0.58  Rb=0.85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3375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04040"/>
                </a:solidFill>
                <a:latin typeface="Calibri"/>
              </a:rPr>
              <a:t>FlexGen: +24%
vLLM: −13%
Orion: −20.5%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188720"/>
            <a:ext cx="3657600" cy="502920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12801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56E"/>
                </a:solidFill>
                <a:latin typeface="맑은 고딕"/>
              </a:rPr>
              <a:t>YOLOv8
(엣지)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18288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맑은 고딕"/>
              </a:rPr>
              <a:t>객체 탐지 추론
(비자기회귀 모델)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66760" y="2423160"/>
            <a:ext cx="3383280" cy="411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244144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용량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28986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5B6"/>
                </a:solidFill>
                <a:latin typeface="Calibri"/>
              </a:rPr>
              <a:t>Rc=0.38  Rb=0.35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3375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04040"/>
                </a:solidFill>
                <a:latin typeface="Calibri"/>
              </a:rPr>
              <a:t>FlexGen: −1.5%
vLLM: 해당없음*
Orion: −4%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093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맑은 고딕"/>
              </a:rPr>
              <a:t>* vLLM은 YOLOv8에 적용 불가 (토큰 기반 아님).  세 비LLM 워크로드 모두 동일한 세 레짐 구조 확인.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레짐 분류기 &amp; 어블레이션 연구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D7EE"/>
                </a:solidFill>
                <a:latin typeface="Calibri"/>
              </a:rPr>
              <a:t>분류기가 성능 개선에 얼마나 기여하는가?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사내 공유용 (대외비)  |  ORION 프로젝트  |  Nature Computational Science (심사 중)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0312" y="655624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  <a:latin typeface="맑은 고딕"/>
              </a:rPr>
              <a:t>분류기 (깊이-3 CART 결정 트리)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  <a:latin typeface="Calibri"/>
              </a:rPr>
              <a:t>  • 학습: 2,400개 측정값, 5개 플랫폼, 3개 레짐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  <a:latin typeface="Calibri"/>
              </a:rPr>
              <a:t>  • 교차 검증 정확도: 93.4% ± 1.2%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  <a:latin typeface="Calibri"/>
              </a:rPr>
              <a:t>  • 추론 비용: &lt; 0.1 ms  (100 ms마다 실행)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  <a:latin typeface="Calibri"/>
              </a:rPr>
              <a:t>  • 피처: swap/comp 비율, L2 히트율, DMA 활용률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  <a:latin typeface="Calibri"/>
              </a:rPr>
              <a:t>  • 히스테리시스 가드: 2회 연속 확인 후 전환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56E"/>
                </a:solidFill>
                <a:latin typeface="맑은 고딕"/>
              </a:rPr>
              <a:t>결정 트리 구조: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04040"/>
                </a:solidFill>
                <a:latin typeface="맑은 고딕"/>
              </a:rPr>
              <a:t>  Rᴄ &lt; 0.50?  →  예 → 용량 제한
              →  아니오 → Rʙ &lt; 0.40?
                          →  예 → I/O 제한
                          →  아니오 → 조율 주도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143000"/>
            <a:ext cx="5852160" cy="50292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1887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맑은 고딕"/>
              </a:rPr>
              <a:t>어블레이션: Orion_HW vs Orion_Full (Table D.1)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737360"/>
            <a:ext cx="548640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78308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  <a:latin typeface="맑은 고딕"/>
              </a:rPr>
              <a:t>Orion_HW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8600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맑은 고딕"/>
              </a:rPr>
              <a:t>NUMA + 프로세스 고정
+ GPU 맞춤 스와핑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01168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E75B6"/>
                </a:solidFill>
                <a:latin typeface="Calibri"/>
              </a:rPr>
              <a:t>−3.8 ~ −8.3%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3154680"/>
            <a:ext cx="548640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5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00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56E"/>
                </a:solidFill>
                <a:latin typeface="맑은 고딕"/>
              </a:rPr>
              <a:t>+ 분류기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0332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맑은 고딕"/>
              </a:rPr>
              <a:t>100ms 레짐 루프
적응형 전략 전환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42900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356E"/>
                </a:solidFill>
                <a:latin typeface="Calibri"/>
              </a:rPr>
              <a:t>−1.1 ~ −18.8%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4572000"/>
            <a:ext cx="548640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4617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맑은 고딕"/>
              </a:rPr>
              <a:t>분류기 기여
비율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12064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맑은 고딕"/>
              </a:rPr>
              <a:t>전체 Orion_Full 이득 대비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84632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Calibri"/>
              </a:rPr>
              <a:t>21 – 76%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레짐별 실무 처방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D7EE"/>
                </a:solidFill>
                <a:latin typeface="Calibri"/>
              </a:rPr>
              <a:t>두 비율로 배포 전 즉시 계산 가능 — 전수 탐색 불필요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사내 공유용 (대외비)  |  ORION 프로젝트  |  Nature Computational Science (심사 중)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0312" y="655624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3794760" cy="5029200"/>
          </a:xfrm>
          <a:prstGeom prst="rect">
            <a:avLst/>
          </a:prstGeom>
          <a:solidFill>
            <a:srgbClr val="F2F2F2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379476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61288"/>
            <a:ext cx="3611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① 용량 제한  (Rᴄ &lt; 0.50)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3611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↑ HBM 용량 증설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↓ 배치 크기 감소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↓ 가중치 양자화로 W 축소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✗ 추가 협조 오버헤드 효과 없음 (≤ 5%)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θᴄ = 0.50 (하드웨어 독립, 오차 ≤ 2.4%)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143000"/>
            <a:ext cx="3794760" cy="5029200"/>
          </a:xfrm>
          <a:prstGeom prst="rect">
            <a:avLst/>
          </a:prstGeom>
          <a:solidFill>
            <a:srgbClr val="F2F2F2"/>
          </a:solidFill>
          <a:ln w="254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143000"/>
            <a:ext cx="3794760" cy="50292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399" y="1161288"/>
            <a:ext cx="3611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② 조율 주도  (Rᴄ ≥ 0.50, Rʙ ≥ 0.40)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399" y="1691640"/>
            <a:ext cx="3611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↑ 파이프라이닝 + KV 캐시 관리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↑ 계산-전송 오버랩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↑ 지연 동기화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18–27% 지연 감소 달성 가능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FlexGen / vLLM / Orion의 설계 목표 레짐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1143000"/>
            <a:ext cx="3794760" cy="5029200"/>
          </a:xfrm>
          <a:prstGeom prst="rect">
            <a:avLst/>
          </a:prstGeom>
          <a:solidFill>
            <a:srgbClr val="F2F2F2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1143000"/>
            <a:ext cx="379476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8" y="1161288"/>
            <a:ext cx="3611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③ I/O 제한  (Rʙ &lt; 0.40)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8" y="1691640"/>
            <a:ext cx="3611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↓ 전송량 D 자체를 줄여야 함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↓ 더 작은 스와핑 단위 적용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↓ 선택적 레이어 오프로딩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✗ 공격적 오프로딩은 8–12% 악화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  <a:latin typeface="Calibri"/>
              </a:rPr>
              <a:t>  θʙ = R_B_sat × (1 + α_wb + α_q)  (오차 ≤ 4.7%)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한계 및 향후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D7EE"/>
                </a:solidFill>
                <a:latin typeface="Calibri"/>
              </a:rPr>
              <a:t>알려진 제약과 열린 문제들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사내 공유용 (대외비)  |  ORION 프로젝트  |  Nature Computational Science (심사 중)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0312" y="655624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800">
                <a:solidFill>
                  <a:srgbClr val="404040"/>
                </a:solidFill>
                <a:latin typeface="Calibri"/>
              </a:rPr>
              <a:t>  • 분류기 정확도(93.4%)는 동일 분포 내 결과 — 신규 하드웨어에 대한 일반화 미검증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404040"/>
                </a:solidFill>
                <a:latin typeface="Calibri"/>
              </a:rPr>
              <a:t>  • 다중 노드 클러스터: 4노드 실험에서 ΔθB ≈ +0.05 관측; 전체 특성 규명 필요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404040"/>
                </a:solidFill>
                <a:latin typeface="Calibri"/>
              </a:rPr>
              <a:t>  • MoE 모델: W_eff = W_param × (k/N_exp) + W_act + W_kv가 Rᴄ를 상향 이동; 모델별 분류 필요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404040"/>
                </a:solidFill>
                <a:latin typeface="Calibri"/>
              </a:rPr>
              <a:t>  • 추측 디코딩: 초안·목표 모델이 다른 레짐에 동시 존재할 수 있어 충돌하는 최적 전략 발생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404040"/>
                </a:solidFill>
                <a:latin typeface="Calibri"/>
              </a:rPr>
              <a:t>  • 경계 통과 시 히스테리시스(레짐 메모리) 현상 관측 — 이론적 규명 및 스케줄링 활용 미해결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404040"/>
                </a:solidFill>
                <a:latin typeface="Calibri"/>
              </a:rPr>
              <a:t>  • T_sync 하한 T_sync_min = K·c_o 해석적 유도 미완성 (향후 과제 C1)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404040"/>
                </a:solidFill>
                <a:latin typeface="Calibri"/>
              </a:rPr>
              <a:t>  • θᴄ 예측 오차 ≤ 2.4%; θʙ ≤ 4.7% (PCIe 기반); 전용 인터커넥트는 더 큰 오차 (Inferentia2: ~12.4%)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394960"/>
            <a:ext cx="11430000" cy="1143000"/>
          </a:xfrm>
          <a:prstGeom prst="rect">
            <a:avLst/>
          </a:prstGeom>
          <a:solidFill>
            <a:srgbClr val="E2E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78644"/>
                </a:solidFill>
                <a:latin typeface="맑은 고딕"/>
              </a:rPr>
              <a:t>핵심 통찰 — 기술 발전이 레짐 구조를 제거하지 않는다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60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04040"/>
                </a:solidFill>
                <a:latin typeface="맑은 고딕"/>
              </a:rPr>
              <a:t>HBM 확장, CXL 풀링, 분산 메모리는 경계를 이동시키지만 상전이 구조를 없애지 않는다.
지속 대역폭 한계에 도달하는 순간, 절대적인 용량·대역폭 값과 무관하게 지배 항이 불연속적으로 변한다.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88952" cy="1371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</a:rPr>
              <a:t>결론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09728" cy="1554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56E"/>
                </a:solidFill>
                <a:latin typeface="맑은 고딕"/>
              </a:rPr>
              <a:t>세 가지 내재적 레짐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04040"/>
                </a:solidFill>
                <a:latin typeface="맑은 고딕"/>
              </a:rPr>
              <a:t>용량 제한 / 조율 주도 / I/O 제한
— 급격한 상전이 유사 전환으로 분리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92608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109728" cy="1554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0175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56E"/>
                </a:solidFill>
                <a:latin typeface="맑은 고딕"/>
              </a:rPr>
              <a:t>두 개의 계산 가능한 비율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83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04040"/>
                </a:solidFill>
                <a:latin typeface="맑은 고딕"/>
              </a:rPr>
              <a:t>Rᴄ = Cfast/W,  Rʙ = Bslow·Δt/D
— 실험 전 데이터시트로 사전 계산 가능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097280"/>
            <a:ext cx="109728" cy="1554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1887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56E"/>
                </a:solidFill>
                <a:latin typeface="맑은 고딕"/>
              </a:rPr>
              <a:t>전략 순위 완전 역전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5544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04040"/>
                </a:solidFill>
                <a:latin typeface="맑은 고딕"/>
              </a:rPr>
              <a:t>FlexGen −24% → +8–12% 경계 통과 시
— 레짐 무시 설계는 구조적으로 불완전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92608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926080"/>
            <a:ext cx="109728" cy="1554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175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56E"/>
                </a:solidFill>
                <a:latin typeface="맑은 고딕"/>
              </a:rPr>
              <a:t>하한의 86–92% 달성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383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04040"/>
                </a:solidFill>
                <a:latin typeface="맑은 고딕"/>
              </a:rPr>
              <a:t>5개 플랫폼에서 Orion 검증
— 잔여 8–14%는 줄일 수 없는 T_sync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6235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"메모리 병목 추론 시스템에서 가장 먼저 물어야 할 질문은
'협조를 얼마나 더 추가할까?'가 아니라 '현재 시스템은 어느 레짐에서 운영되고 있는가?'이다."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