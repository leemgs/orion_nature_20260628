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ED7D82-16C1-4A5E-8D8F-A3DBB76E2B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550C5B-598E-45BF-A3D6-AEE673DA7B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1ED14AB-C654-4128-8F4E-05FAE15802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19737C8-861B-4AF9-9AE5-C02DE8CEDF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C0A581E-9DF2-42E8-B132-10B9FE7770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62AD23A-BA72-45BB-A4F4-73790B3AFF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E400DBE-2D3B-4C1C-B48D-7D4007A378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7493401-B5DB-4EAF-A680-00C8034629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5D2A659-828D-4B58-A5F1-B9BC6EDAD5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EEF22C5-7FA0-4BDE-ADCE-ECA876C16B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A2FF3B0-7E76-4E27-B9BD-EF71BF2B1F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BFC73C-6E9D-41AE-AF1B-FA7CC832D0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7768DA-E5F0-4711-9D38-5759DC1B3F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7CFB64-DC90-4498-B090-89CF4794F4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DE4D59-B4CA-4EDE-8308-D22939D4B1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E22377-E611-4031-B970-D36CEEC8F0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7793E8-1F52-4868-B15A-3766E9A0C2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7BAF9A-091B-4BEE-ABF3-9EE4F4826C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E7D505-900A-4428-BBAF-7DE6C1787D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FEFDD1-5F13-4B09-81F9-B9D81EDDD4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48F7BA-BBDE-454A-97AB-9732AEB671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F55A0A-FF7E-4EF7-9195-D0DA9C9697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029200"/>
            <a:ext cx="12188520" cy="1828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457200"/>
            <a:ext cx="10972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ORION</a:t>
            </a:r>
            <a:endParaRPr b="0" lang="en-US" sz="5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141732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bdd7ee"/>
                </a:solidFill>
                <a:latin typeface="Calibri"/>
              </a:rPr>
              <a:t>Hierarchical Memory Orchestration in AI Inference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20116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000" spc="-1" strike="noStrike">
                <a:solidFill>
                  <a:srgbClr val="bdd7ee"/>
                </a:solidFill>
                <a:latin typeface="Calibri"/>
              </a:rPr>
              <a:t>Exhibits Intrinsic Regime-Dependent Limits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48640" y="2788920"/>
            <a:ext cx="3657240" cy="378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292608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bdd7ee"/>
                </a:solidFill>
                <a:latin typeface="Calibri"/>
              </a:rPr>
              <a:t>Nature Computational Science  ·  Under Review  ·  2026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48640" y="333756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Geunsik Lim   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365760" y="525780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Internal presentation — for colleagues in related research departments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365760" y="5623560"/>
            <a:ext cx="3657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Motivation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Why does memory orchestration matter?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365760" y="1188720"/>
            <a:ext cx="1142964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Modern LLMs exceed accelerator VRAM → weights spill to host DRAM / NVMe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Inference cost now dominates lifetime resource footprint of foundation models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Memory bandwidth &amp; capacity — not arithmetic — are the binding constraints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I/O-limited operation reduces throughput-per-Watt by &gt; 3× vs. optimal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900" spc="-1" strike="noStrike">
                <a:solidFill>
                  <a:srgbClr val="404040"/>
                </a:solidFill>
                <a:latin typeface="Calibri"/>
              </a:rPr>
              <a:t>CO₂ penalty: 15.8 g → 42.5 g per 10⁶ tokens at IEA 2024 carbon intensity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365760" y="3566160"/>
            <a:ext cx="11338200" cy="25599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548640" y="370332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e75b6"/>
                </a:solidFill>
                <a:latin typeface="Calibri"/>
              </a:rPr>
              <a:t>Core question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548640" y="4114800"/>
            <a:ext cx="109724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Is hierarchical memory orchestration a continuously optimisable problem,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or does it admit intrinsic boundaries beyond which additional coordination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cannot improve — and can worsen — end-to-end latency?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Three Operational Regimes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Defined by two dimensionless control ratios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365760" y="1143000"/>
            <a:ext cx="365724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365760" y="1234440"/>
            <a:ext cx="3657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Fast-memory residency ratio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365760" y="1645920"/>
            <a:ext cx="3657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Rᴄ = Cfast / W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Rectangle 10"/>
          <p:cNvSpPr/>
          <p:nvPr/>
        </p:nvSpPr>
        <p:spPr>
          <a:xfrm>
            <a:off x="4297680" y="1143000"/>
            <a:ext cx="38401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4297680" y="1234440"/>
            <a:ext cx="3840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Transfer-pressure ratio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4297680" y="1645920"/>
            <a:ext cx="3840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Rʙ = Bslow · Δt / D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8412480" y="1234440"/>
            <a:ext cx="3474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d7d31"/>
                </a:solidFill>
                <a:latin typeface="Calibri"/>
              </a:rPr>
              <a:t>θᴄ ≈ 0.50    θʙ ≈ 0.40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8412480" y="1691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empirically calibrated thresholds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Rectangle 15"/>
          <p:cNvSpPr/>
          <p:nvPr/>
        </p:nvSpPr>
        <p:spPr>
          <a:xfrm>
            <a:off x="274320" y="2286000"/>
            <a:ext cx="3520080" cy="3474360"/>
          </a:xfrm>
          <a:prstGeom prst="rect">
            <a:avLst/>
          </a:prstGeom>
          <a:solidFill>
            <a:srgbClr val="ffe6cc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6"/>
          <p:cNvSpPr/>
          <p:nvPr/>
        </p:nvSpPr>
        <p:spPr>
          <a:xfrm>
            <a:off x="4297680" y="2286000"/>
            <a:ext cx="3520080" cy="3474360"/>
          </a:xfrm>
          <a:prstGeom prst="rect">
            <a:avLst/>
          </a:prstGeom>
          <a:solidFill>
            <a:srgbClr val="e2efda"/>
          </a:solidFill>
          <a:ln w="254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7"/>
          <p:cNvSpPr/>
          <p:nvPr/>
        </p:nvSpPr>
        <p:spPr>
          <a:xfrm>
            <a:off x="8321040" y="2286000"/>
            <a:ext cx="3520080" cy="3474360"/>
          </a:xfrm>
          <a:prstGeom prst="rect">
            <a:avLst/>
          </a:prstGeom>
          <a:solidFill>
            <a:srgbClr val="ffe0e0"/>
          </a:solidFill>
          <a:ln w="25400">
            <a:solidFill>
              <a:srgbClr val="c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41148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① </a:t>
            </a: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Capacity-Limited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411480" y="2834640"/>
            <a:ext cx="3245760" cy="365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41148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Rᴄ &lt; θᴄ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41148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Fast memory cannot hold the working set.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Frequent eviction &amp; reloading.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Orchestration yields ≤ 5% gain.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Primary lever: increase HBM or quantise.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443484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② </a:t>
            </a: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Coordination-Dominated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Rectangle 23"/>
          <p:cNvSpPr/>
          <p:nvPr/>
        </p:nvSpPr>
        <p:spPr>
          <a:xfrm>
            <a:off x="4434840" y="2834640"/>
            <a:ext cx="3245760" cy="36540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4"/>
          <p:cNvSpPr/>
          <p:nvPr/>
        </p:nvSpPr>
        <p:spPr>
          <a:xfrm>
            <a:off x="443484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Rᴄ ≥ θᴄ  and  Rʙ ≥ θʙ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Box 25"/>
          <p:cNvSpPr/>
          <p:nvPr/>
        </p:nvSpPr>
        <p:spPr>
          <a:xfrm>
            <a:off x="443484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All four latency terms balanced.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Orchestration most effective here.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18–27% latency reduction achievable.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Ideal region for FlexGen, vLLM, Orion.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TextBox 26"/>
          <p:cNvSpPr/>
          <p:nvPr/>
        </p:nvSpPr>
        <p:spPr>
          <a:xfrm>
            <a:off x="845820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③ </a:t>
            </a: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I/O-Limited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3" name="Rectangle 27"/>
          <p:cNvSpPr/>
          <p:nvPr/>
        </p:nvSpPr>
        <p:spPr>
          <a:xfrm>
            <a:off x="8458200" y="2834640"/>
            <a:ext cx="3245760" cy="3654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845820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Rʙ &lt; θʙ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" name="TextBox 29"/>
          <p:cNvSpPr/>
          <p:nvPr/>
        </p:nvSpPr>
        <p:spPr>
          <a:xfrm>
            <a:off x="8458200" y="3291840"/>
            <a:ext cx="3245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PCIe bandwidth saturated.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Extra coordination adds overhead.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Aggressive offloading worsens by 8–12%.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Primary lever: reduce transfer volume D.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Analytical Model &amp; Lower Bound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Eq. 1–3 from the paper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2" name="Rectangle 7"/>
          <p:cNvSpPr/>
          <p:nvPr/>
        </p:nvSpPr>
        <p:spPr>
          <a:xfrm>
            <a:off x="365760" y="1143000"/>
            <a:ext cx="11429640" cy="14626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548640" y="11887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e75b6"/>
                </a:solidFill>
                <a:latin typeface="Calibri"/>
              </a:rPr>
              <a:t>Latency decomposition  (Eq. 1)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548640" y="15087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356e"/>
                </a:solidFill>
                <a:latin typeface="Calibri"/>
              </a:rPr>
              <a:t>T_total  =  T_comp  +  T_mem  +  T_swap  +  T_sync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Rectangle 10"/>
          <p:cNvSpPr/>
          <p:nvPr/>
        </p:nvSpPr>
        <p:spPr>
          <a:xfrm>
            <a:off x="365760" y="2743200"/>
            <a:ext cx="11429640" cy="1462680"/>
          </a:xfrm>
          <a:prstGeom prst="rect">
            <a:avLst/>
          </a:prstGeom>
          <a:solidFill>
            <a:srgbClr val="fff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548640" y="27889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d7d31"/>
                </a:solidFill>
                <a:latin typeface="Calibri"/>
              </a:rPr>
              <a:t>Structural lower bound  (Eq. 3)  — independent of orchestration policy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548640" y="3108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a356e"/>
                </a:solidFill>
                <a:latin typeface="Calibri"/>
              </a:rPr>
              <a:t>T_total  ≥  ρ·W·max(0, 1−Rᴄ)  +  D / Bslow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457200" y="4343400"/>
            <a:ext cx="10972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First term: irreducible memory-access penalty from evicted working-set data (Mattson 1970)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Second term: minimum DMA transfer time for D compulsory bytes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T_sync excluded — represents coordination overhead reducible but not eliminated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Orion achieves 86–92% of lower bound; residual 8–14% ≈ irreducible T_sync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Worked Example — Llama-3 8B on A100 80 GB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Any practitioner can compute these from datasheets + model card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548640" y="11887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e75b6"/>
                </a:solidFill>
                <a:latin typeface="Calibri"/>
              </a:rPr>
              <a:t>Hardware + model parameters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502920" y="1600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594360" y="164592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W (working set)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2926080" y="164592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41.8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594360" y="19476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Calibri"/>
              </a:rPr>
              <a:t>param 16 + act 17.2 + KV 8.6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" name="Rectangle 13"/>
          <p:cNvSpPr/>
          <p:nvPr/>
        </p:nvSpPr>
        <p:spPr>
          <a:xfrm>
            <a:off x="502920" y="237744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594360" y="242316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Cfast (HBM)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2926080" y="242316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80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594360" y="2724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Calibri"/>
              </a:rPr>
              <a:t>A100 80 GB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" name="Rectangle 17"/>
          <p:cNvSpPr/>
          <p:nvPr/>
        </p:nvSpPr>
        <p:spPr>
          <a:xfrm>
            <a:off x="502920" y="315468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594360" y="320040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Bslow (PCIe Gen4)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2926080" y="320040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16.1 GB/s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594360" y="35020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Calibri"/>
              </a:rPr>
              <a:t>sustained host→device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" name="Rectangle 21"/>
          <p:cNvSpPr/>
          <p:nvPr/>
        </p:nvSpPr>
        <p:spPr>
          <a:xfrm>
            <a:off x="502920" y="393192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594360" y="39776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D (per step)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2926080" y="397764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1.2 GB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594360" y="42793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Calibri"/>
              </a:rPr>
              <a:t>compulsory-only; R_C &gt;&gt; θ_C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Rectangle 25"/>
          <p:cNvSpPr/>
          <p:nvPr/>
        </p:nvSpPr>
        <p:spPr>
          <a:xfrm>
            <a:off x="502920" y="470916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594360" y="475488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Δt (step duration)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TextBox 27"/>
          <p:cNvSpPr/>
          <p:nvPr/>
        </p:nvSpPr>
        <p:spPr>
          <a:xfrm>
            <a:off x="2926080" y="475488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120 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TextBox 28"/>
          <p:cNvSpPr/>
          <p:nvPr/>
        </p:nvSpPr>
        <p:spPr>
          <a:xfrm>
            <a:off x="594360" y="505656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808080"/>
                </a:solidFill>
                <a:latin typeface="Calibri"/>
              </a:rPr>
              <a:t>measured wall-clock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Rectangle 29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0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78644"/>
                </a:solidFill>
                <a:latin typeface="Calibri"/>
              </a:rPr>
              <a:t>Computed ratios &amp; regime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Rectangle 31"/>
          <p:cNvSpPr/>
          <p:nvPr/>
        </p:nvSpPr>
        <p:spPr>
          <a:xfrm>
            <a:off x="6126480" y="160020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2"/>
          <p:cNvSpPr/>
          <p:nvPr/>
        </p:nvSpPr>
        <p:spPr>
          <a:xfrm>
            <a:off x="6263640" y="1645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Rᴄ = Cfast / W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TextBox 33"/>
          <p:cNvSpPr/>
          <p:nvPr/>
        </p:nvSpPr>
        <p:spPr>
          <a:xfrm>
            <a:off x="6263640" y="19476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5b6"/>
                </a:solidFill>
                <a:latin typeface="Calibri"/>
              </a:rPr>
              <a:t>= 80 / 41.8 = 1.92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TextBox 34"/>
          <p:cNvSpPr/>
          <p:nvPr/>
        </p:nvSpPr>
        <p:spPr>
          <a:xfrm>
            <a:off x="6263640" y="228600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8644"/>
                </a:solidFill>
                <a:latin typeface="Calibri"/>
              </a:rPr>
              <a:t>&gt;&gt; θᴄ = 0.50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Rectangle 35"/>
          <p:cNvSpPr/>
          <p:nvPr/>
        </p:nvSpPr>
        <p:spPr>
          <a:xfrm>
            <a:off x="6126480" y="278892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36"/>
          <p:cNvSpPr/>
          <p:nvPr/>
        </p:nvSpPr>
        <p:spPr>
          <a:xfrm>
            <a:off x="6263640" y="28346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Rʙ = Bslow·Δt / 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TextBox 37"/>
          <p:cNvSpPr/>
          <p:nvPr/>
        </p:nvSpPr>
        <p:spPr>
          <a:xfrm>
            <a:off x="6263640" y="313632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5b6"/>
                </a:solidFill>
                <a:latin typeface="Calibri"/>
              </a:rPr>
              <a:t>= 16.1×0.12 / 1.2 = 1.61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TextBox 38"/>
          <p:cNvSpPr/>
          <p:nvPr/>
        </p:nvSpPr>
        <p:spPr>
          <a:xfrm>
            <a:off x="6263640" y="347472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8644"/>
                </a:solidFill>
                <a:latin typeface="Calibri"/>
              </a:rPr>
              <a:t>&gt;&gt; θʙ = 0.40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Rectangle 39"/>
          <p:cNvSpPr/>
          <p:nvPr/>
        </p:nvSpPr>
        <p:spPr>
          <a:xfrm>
            <a:off x="6126480" y="397764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40"/>
          <p:cNvSpPr/>
          <p:nvPr/>
        </p:nvSpPr>
        <p:spPr>
          <a:xfrm>
            <a:off x="6263640" y="402336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Regime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Box 41"/>
          <p:cNvSpPr/>
          <p:nvPr/>
        </p:nvSpPr>
        <p:spPr>
          <a:xfrm>
            <a:off x="6263640" y="43250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e75b6"/>
                </a:solidFill>
                <a:latin typeface="Calibri"/>
              </a:rPr>
              <a:t>COORDINATION-DOMINATED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TextBox 42"/>
          <p:cNvSpPr/>
          <p:nvPr/>
        </p:nvSpPr>
        <p:spPr>
          <a:xfrm>
            <a:off x="6263640" y="466344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8644"/>
                </a:solidFill>
                <a:latin typeface="Calibri"/>
              </a:rPr>
              <a:t>orchestration profitable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Key Result — Strategy Ranking Inversion (Table 2)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The same method can help in one regime and harm in another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Rectangle 7"/>
          <p:cNvSpPr/>
          <p:nvPr/>
        </p:nvSpPr>
        <p:spPr>
          <a:xfrm>
            <a:off x="274320" y="1188720"/>
            <a:ext cx="11612520" cy="4568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320040" y="120708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2697480" y="1207080"/>
            <a:ext cx="265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Capacity-Limited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5532120" y="1207080"/>
            <a:ext cx="310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Coordination-Dominated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8823960" y="120708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I/O-Limited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" name="Rectangle 12"/>
          <p:cNvSpPr/>
          <p:nvPr/>
        </p:nvSpPr>
        <p:spPr>
          <a:xfrm>
            <a:off x="274320" y="16459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320040" y="17373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PyTorch (baseline)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2697480" y="17373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5532120" y="17373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8823960" y="17373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Rectangle 17"/>
          <p:cNvSpPr/>
          <p:nvPr/>
        </p:nvSpPr>
        <p:spPr>
          <a:xfrm>
            <a:off x="274320" y="230436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320040" y="23958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2697480" y="23958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1.5%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5532120" y="23958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+24.0%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8823960" y="23958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8.0%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Rectangle 22"/>
          <p:cNvSpPr/>
          <p:nvPr/>
        </p:nvSpPr>
        <p:spPr>
          <a:xfrm>
            <a:off x="274320" y="296280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320040" y="305424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DeepSpeed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2697480" y="305424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2.0%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Box 25"/>
          <p:cNvSpPr/>
          <p:nvPr/>
        </p:nvSpPr>
        <p:spPr>
          <a:xfrm>
            <a:off x="5532120" y="305424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+18.0%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8823960" y="305424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5.0%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Rectangle 27"/>
          <p:cNvSpPr/>
          <p:nvPr/>
        </p:nvSpPr>
        <p:spPr>
          <a:xfrm>
            <a:off x="274320" y="362088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320040" y="371232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SwapAdvisor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29"/>
          <p:cNvSpPr/>
          <p:nvPr/>
        </p:nvSpPr>
        <p:spPr>
          <a:xfrm>
            <a:off x="2697480" y="371232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Box 30"/>
          <p:cNvSpPr/>
          <p:nvPr/>
        </p:nvSpPr>
        <p:spPr>
          <a:xfrm>
            <a:off x="5532120" y="371232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10.0%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TextBox 31"/>
          <p:cNvSpPr/>
          <p:nvPr/>
        </p:nvSpPr>
        <p:spPr>
          <a:xfrm>
            <a:off x="8823960" y="371232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+5.0%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Rectangle 32"/>
          <p:cNvSpPr/>
          <p:nvPr/>
        </p:nvSpPr>
        <p:spPr>
          <a:xfrm>
            <a:off x="274320" y="42793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33"/>
          <p:cNvSpPr/>
          <p:nvPr/>
        </p:nvSpPr>
        <p:spPr>
          <a:xfrm>
            <a:off x="320040" y="43707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Box 34"/>
          <p:cNvSpPr/>
          <p:nvPr/>
        </p:nvSpPr>
        <p:spPr>
          <a:xfrm>
            <a:off x="2697480" y="43707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00000"/>
                </a:solidFill>
                <a:latin typeface="Calibri"/>
              </a:rPr>
              <a:t>+1.0%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Box 35"/>
          <p:cNvSpPr/>
          <p:nvPr/>
        </p:nvSpPr>
        <p:spPr>
          <a:xfrm>
            <a:off x="5532120" y="43707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13.0%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TextBox 36"/>
          <p:cNvSpPr/>
          <p:nvPr/>
        </p:nvSpPr>
        <p:spPr>
          <a:xfrm>
            <a:off x="8823960" y="43707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6.0%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Rectangle 37"/>
          <p:cNvSpPr/>
          <p:nvPr/>
        </p:nvSpPr>
        <p:spPr>
          <a:xfrm>
            <a:off x="274320" y="493776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38"/>
          <p:cNvSpPr/>
          <p:nvPr/>
        </p:nvSpPr>
        <p:spPr>
          <a:xfrm>
            <a:off x="320040" y="50292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356e"/>
                </a:solidFill>
                <a:latin typeface="Calibri"/>
              </a:rPr>
              <a:t>Orion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39"/>
          <p:cNvSpPr/>
          <p:nvPr/>
        </p:nvSpPr>
        <p:spPr>
          <a:xfrm>
            <a:off x="2697480" y="50292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−</a:t>
            </a:r>
            <a:r>
              <a:rPr b="0" lang="en-US" sz="1600" spc="-1" strike="noStrike">
                <a:solidFill>
                  <a:srgbClr val="404040"/>
                </a:solidFill>
                <a:latin typeface="Calibri"/>
              </a:rPr>
              <a:t>4.0%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TextBox 40"/>
          <p:cNvSpPr/>
          <p:nvPr/>
        </p:nvSpPr>
        <p:spPr>
          <a:xfrm>
            <a:off x="5532120" y="50292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20.5%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Box 41"/>
          <p:cNvSpPr/>
          <p:nvPr/>
        </p:nvSpPr>
        <p:spPr>
          <a:xfrm>
            <a:off x="8823960" y="50292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−</a:t>
            </a:r>
            <a:r>
              <a:rPr b="1" lang="en-US" sz="1600" spc="-1" strike="noStrike">
                <a:solidFill>
                  <a:srgbClr val="378644"/>
                </a:solidFill>
                <a:latin typeface="Calibri"/>
              </a:rPr>
              <a:t>10.5%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TextBox 42"/>
          <p:cNvSpPr/>
          <p:nvPr/>
        </p:nvSpPr>
        <p:spPr>
          <a:xfrm>
            <a:off x="274320" y="6080760"/>
            <a:ext cx="11612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Red = latency increase (worse than baseline)    ↓ Green = improvement &gt; 5%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FlexGen improves in coord-dominated but HURTS by +24% — ranking fully inverts across boundaries.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Workload Generality — Beyond LLMs (Table 3)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BLIP2  ·  RAG  ·  YOLOv8 all exhibit three-regime structure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Rectangle 7"/>
          <p:cNvSpPr/>
          <p:nvPr/>
        </p:nvSpPr>
        <p:spPr>
          <a:xfrm>
            <a:off x="36576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502920" y="1280160"/>
            <a:ext cx="3382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BLIP2-VQA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50292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Visual question-answering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(vision + language fusion)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Rectangle 10"/>
          <p:cNvSpPr/>
          <p:nvPr/>
        </p:nvSpPr>
        <p:spPr>
          <a:xfrm>
            <a:off x="50292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50292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Coord-Dominated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50292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Rc=0.62  Rb=1.10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50292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+24%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−13%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−20.5%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Rectangle 14"/>
          <p:cNvSpPr/>
          <p:nvPr/>
        </p:nvSpPr>
        <p:spPr>
          <a:xfrm>
            <a:off x="429768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443484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RAG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(Llama-3)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443484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Retrieval-augmented generation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(dense retrieval + decode)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Rectangle 17"/>
          <p:cNvSpPr/>
          <p:nvPr/>
        </p:nvSpPr>
        <p:spPr>
          <a:xfrm>
            <a:off x="443484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443484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Coord-Dominated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443484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Rc=0.58  Rb=0.85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443484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+24%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−13%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−20.5%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Rectangle 21"/>
          <p:cNvSpPr/>
          <p:nvPr/>
        </p:nvSpPr>
        <p:spPr>
          <a:xfrm>
            <a:off x="822960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2"/>
          <p:cNvSpPr/>
          <p:nvPr/>
        </p:nvSpPr>
        <p:spPr>
          <a:xfrm>
            <a:off x="836676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YOLOv8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a356e"/>
                </a:solidFill>
                <a:latin typeface="Calibri"/>
              </a:rPr>
              <a:t>(edge)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TextBox 23"/>
          <p:cNvSpPr/>
          <p:nvPr/>
        </p:nvSpPr>
        <p:spPr>
          <a:xfrm>
            <a:off x="836676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Object detection inference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(non-autoregressive)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Rectangle 24"/>
          <p:cNvSpPr/>
          <p:nvPr/>
        </p:nvSpPr>
        <p:spPr>
          <a:xfrm>
            <a:off x="8366760" y="2423160"/>
            <a:ext cx="3382920" cy="411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25"/>
          <p:cNvSpPr/>
          <p:nvPr/>
        </p:nvSpPr>
        <p:spPr>
          <a:xfrm>
            <a:off x="836676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Capacity-Limited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836676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Rc=0.38  Rb=0.35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Box 27"/>
          <p:cNvSpPr/>
          <p:nvPr/>
        </p:nvSpPr>
        <p:spPr>
          <a:xfrm>
            <a:off x="836676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FlexGen: −1.5%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vLLM: N/A*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Orion: −4%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TextBox 28"/>
          <p:cNvSpPr/>
          <p:nvPr/>
        </p:nvSpPr>
        <p:spPr>
          <a:xfrm>
            <a:off x="274320" y="630936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* vLLM not applicable to YOLOv8 (non-token-based).  All three non-LLM workloads confirm the same three-regime structure.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Regime Classifier &amp; Orion_Full vs Orion_HW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Ablation study — how much does the classifier contribute?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548640" y="1188720"/>
            <a:ext cx="5028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e75b6"/>
                </a:solidFill>
                <a:latin typeface="Calibri"/>
              </a:rPr>
              <a:t>Classifier (depth-3 CART decision tree)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548640" y="1645920"/>
            <a:ext cx="5028840" cy="21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Training: 2,400 probing measurements, 5 platforms, 3 regimes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Cross-validated accuracy: 93.4% ± 1.2%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Inference cost: &lt; 0.1 ms  (runs every 100 ms)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Features: swap/comp ratio, L2 hit rate, DMA utilisation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404040"/>
                </a:solidFill>
                <a:latin typeface="Calibri"/>
              </a:rPr>
              <a:t>Hysteresis guard: 2 consecutive windows to trigger switch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548640" y="42976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356e"/>
                </a:solidFill>
                <a:latin typeface="Calibri"/>
              </a:rPr>
              <a:t>Decision tree: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548640" y="4663440"/>
            <a:ext cx="5028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Rᴄ &lt; 0.50?  →  yes → CAPACITY-LIMITED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            →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no  → Rʙ &lt; 0.40?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                        →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yes → I/O-LIMITED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                        →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no  → COORDINATION-DOMINATED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Rectangle 12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e75b6"/>
                </a:solidFill>
                <a:latin typeface="Calibri"/>
              </a:rPr>
              <a:t>Ablation: Orion_HW vs Orion_Full  (Table D.1)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Rectangle 14"/>
          <p:cNvSpPr/>
          <p:nvPr/>
        </p:nvSpPr>
        <p:spPr>
          <a:xfrm>
            <a:off x="6126480" y="173736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6263640" y="178308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e75b6"/>
                </a:solidFill>
                <a:latin typeface="Calibri"/>
              </a:rPr>
              <a:t>Orion_HW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TextBox 16"/>
          <p:cNvSpPr/>
          <p:nvPr/>
        </p:nvSpPr>
        <p:spPr>
          <a:xfrm>
            <a:off x="6263640" y="228600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NUMA + process pinning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+ GPU-tailored swapping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TextBox 17"/>
          <p:cNvSpPr/>
          <p:nvPr/>
        </p:nvSpPr>
        <p:spPr>
          <a:xfrm>
            <a:off x="8686800" y="201168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e75b6"/>
                </a:solidFill>
                <a:latin typeface="Calibri"/>
              </a:rPr>
              <a:t>−</a:t>
            </a:r>
            <a:r>
              <a:rPr b="1" lang="en-US" sz="2200" spc="-1" strike="noStrike">
                <a:solidFill>
                  <a:srgbClr val="2e75b6"/>
                </a:solidFill>
                <a:latin typeface="Calibri"/>
              </a:rPr>
              <a:t>3.8 to −8.3%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8" name="Rectangle 18"/>
          <p:cNvSpPr/>
          <p:nvPr/>
        </p:nvSpPr>
        <p:spPr>
          <a:xfrm>
            <a:off x="6126480" y="315468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6263640" y="32004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a356e"/>
                </a:solidFill>
                <a:latin typeface="Calibri"/>
              </a:rPr>
              <a:t>+ Classifier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Box 20"/>
          <p:cNvSpPr/>
          <p:nvPr/>
        </p:nvSpPr>
        <p:spPr>
          <a:xfrm>
            <a:off x="6263640" y="370332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100-ms regime loop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adaptive strategy switch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TextBox 21"/>
          <p:cNvSpPr/>
          <p:nvPr/>
        </p:nvSpPr>
        <p:spPr>
          <a:xfrm>
            <a:off x="8686800" y="342900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a356e"/>
                </a:solidFill>
                <a:latin typeface="Calibri"/>
              </a:rPr>
              <a:t>−</a:t>
            </a:r>
            <a:r>
              <a:rPr b="1" lang="en-US" sz="2200" spc="-1" strike="noStrike">
                <a:solidFill>
                  <a:srgbClr val="1a356e"/>
                </a:solidFill>
                <a:latin typeface="Calibri"/>
              </a:rPr>
              <a:t>1.1 to −18.8%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Rectangle 22"/>
          <p:cNvSpPr/>
          <p:nvPr/>
        </p:nvSpPr>
        <p:spPr>
          <a:xfrm>
            <a:off x="6126480" y="457200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23"/>
          <p:cNvSpPr/>
          <p:nvPr/>
        </p:nvSpPr>
        <p:spPr>
          <a:xfrm>
            <a:off x="6263640" y="4617720"/>
            <a:ext cx="2194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ed7d31"/>
                </a:solidFill>
                <a:latin typeface="Calibri"/>
              </a:rPr>
              <a:t>Classifier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d7d31"/>
                </a:solidFill>
                <a:latin typeface="Calibri"/>
              </a:rPr>
              <a:t>contribution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Box 24"/>
          <p:cNvSpPr/>
          <p:nvPr/>
        </p:nvSpPr>
        <p:spPr>
          <a:xfrm>
            <a:off x="6263640" y="5120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04040"/>
                </a:solidFill>
                <a:latin typeface="Calibri"/>
              </a:rPr>
              <a:t>fraction of total gain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5" name="TextBox 25"/>
          <p:cNvSpPr/>
          <p:nvPr/>
        </p:nvSpPr>
        <p:spPr>
          <a:xfrm>
            <a:off x="8686800" y="484632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d7d31"/>
                </a:solidFill>
                <a:latin typeface="Calibri"/>
              </a:rPr>
              <a:t>21 – 76%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Lower Bound Achievability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How close does Orion get to the physical optimum?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2" name="Rectangle 7"/>
          <p:cNvSpPr/>
          <p:nvPr/>
        </p:nvSpPr>
        <p:spPr>
          <a:xfrm>
            <a:off x="365760" y="1371600"/>
            <a:ext cx="2742840" cy="16455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365760" y="1463040"/>
            <a:ext cx="2742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Achievability τ = T_lower / T_Orion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at regime boundaries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36576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86–92%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Rectangle 10"/>
          <p:cNvSpPr/>
          <p:nvPr/>
        </p:nvSpPr>
        <p:spPr>
          <a:xfrm>
            <a:off x="3291840" y="1371600"/>
            <a:ext cx="2742840" cy="1645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1"/>
          <p:cNvSpPr/>
          <p:nvPr/>
        </p:nvSpPr>
        <p:spPr>
          <a:xfrm>
            <a:off x="329184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Residual gap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≈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irreducible T_sync floor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7" name="TextBox 12"/>
          <p:cNvSpPr/>
          <p:nvPr/>
        </p:nvSpPr>
        <p:spPr>
          <a:xfrm>
            <a:off x="329184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8–14%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Rectangle 13"/>
          <p:cNvSpPr/>
          <p:nvPr/>
        </p:nvSpPr>
        <p:spPr>
          <a:xfrm>
            <a:off x="6217920" y="1371600"/>
            <a:ext cx="2742840" cy="1645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4"/>
          <p:cNvSpPr/>
          <p:nvPr/>
        </p:nvSpPr>
        <p:spPr>
          <a:xfrm>
            <a:off x="621792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Boundary consistency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across 5 hardware platforms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Box 15"/>
          <p:cNvSpPr/>
          <p:nvPr/>
        </p:nvSpPr>
        <p:spPr>
          <a:xfrm>
            <a:off x="621792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±0.05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Rectangle 16"/>
          <p:cNvSpPr/>
          <p:nvPr/>
        </p:nvSpPr>
        <p:spPr>
          <a:xfrm>
            <a:off x="9144000" y="1371600"/>
            <a:ext cx="2742840" cy="164556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7"/>
          <p:cNvSpPr/>
          <p:nvPr/>
        </p:nvSpPr>
        <p:spPr>
          <a:xfrm>
            <a:off x="9144000" y="1463040"/>
            <a:ext cx="2742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Sharpness S at θᴄ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(S* = 2.0 → abrupt transition)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3" name="TextBox 18"/>
          <p:cNvSpPr/>
          <p:nvPr/>
        </p:nvSpPr>
        <p:spPr>
          <a:xfrm>
            <a:off x="9144000" y="1874520"/>
            <a:ext cx="2742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4.12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TextBox 19"/>
          <p:cNvSpPr/>
          <p:nvPr/>
        </p:nvSpPr>
        <p:spPr>
          <a:xfrm>
            <a:off x="365760" y="3246120"/>
            <a:ext cx="11429640" cy="158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Platform coverage: A100 80GB · TPU v4 · AWS Inferentia2 · AMD MI250 · Intel Optane-PMem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Boundary identified when dominant latency term changes by &gt; 1 s.d. across 5 sweeps × 30 windows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Wilcoxon signed-rank test: near-boundary S &gt; S* = 2.0 at p &lt; 0.05; interior p &gt; 0.40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T_sync measured directly via cudaStreamSynchronize + ncclAllReduce CUPTI wrappers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700" spc="-1" strike="noStrike">
                <a:solidFill>
                  <a:srgbClr val="404040"/>
                </a:solidFill>
                <a:latin typeface="Calibri"/>
              </a:rPr>
              <a:t>4-term sum agrees with wall-clock within ≤ 3% (mean 1.8%, s.d. 0.6%)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Practical Prescriptions by Regime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Immediately actionable from two ratios — no exhaustive sweep needed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1" name="Rectangle 7"/>
          <p:cNvSpPr/>
          <p:nvPr/>
        </p:nvSpPr>
        <p:spPr>
          <a:xfrm>
            <a:off x="27432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8"/>
          <p:cNvSpPr/>
          <p:nvPr/>
        </p:nvSpPr>
        <p:spPr>
          <a:xfrm>
            <a:off x="274320" y="1143000"/>
            <a:ext cx="3794400" cy="502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36576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①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Capacity-Limited  (Rᴄ &lt; 0.50)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365760" y="1691640"/>
            <a:ext cx="3611520" cy="20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Increase HBM capacity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Reduce batch size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Apply weight quantisation (shrinks W)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✗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Avoid adding coordination overhead (≤ 5% return)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θᴄ = 0.50 (hardware-independent, error ≤ 2.4%)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Rectangle 11"/>
          <p:cNvSpPr/>
          <p:nvPr/>
        </p:nvSpPr>
        <p:spPr>
          <a:xfrm>
            <a:off x="425196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12"/>
          <p:cNvSpPr/>
          <p:nvPr/>
        </p:nvSpPr>
        <p:spPr>
          <a:xfrm>
            <a:off x="4251960" y="1143000"/>
            <a:ext cx="3794400" cy="502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343400" y="1161360"/>
            <a:ext cx="3611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②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Coordination-Dominated  (Rᴄ ≥ 0.50, Rʙ ≥ 0.40)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4343400" y="1691640"/>
            <a:ext cx="361152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Pipelining + KV-cache management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Cross-tier overlap (compute ‖ DMA)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↑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Lazy synchronisation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18–27% latency reduction achievable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This is the design target of FlexGen / vLLM / Orion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Rectangle 15"/>
          <p:cNvSpPr/>
          <p:nvPr/>
        </p:nvSpPr>
        <p:spPr>
          <a:xfrm>
            <a:off x="822960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16"/>
          <p:cNvSpPr/>
          <p:nvPr/>
        </p:nvSpPr>
        <p:spPr>
          <a:xfrm>
            <a:off x="8229600" y="1143000"/>
            <a:ext cx="3794400" cy="5025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7"/>
          <p:cNvSpPr/>
          <p:nvPr/>
        </p:nvSpPr>
        <p:spPr>
          <a:xfrm>
            <a:off x="832104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③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I/O-Limited  (Rʙ &lt; 0.40)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TextBox 18"/>
          <p:cNvSpPr/>
          <p:nvPr/>
        </p:nvSpPr>
        <p:spPr>
          <a:xfrm>
            <a:off x="8321040" y="1691640"/>
            <a:ext cx="3611520" cy="20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Reduce transfer volume D (not add scheduling)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Smaller swap granularity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↓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Selective layer offloading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✗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Aggressive offloading WORSENS by 8–12%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θʙ = R_B_sat × (1 + α_wb + α_q)  (error ≤ 4.7% on PCIe)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Limitations &amp; Future Work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dd7ee"/>
                </a:solidFill>
                <a:latin typeface="Calibri"/>
              </a:rPr>
              <a:t>Known constraints and open problems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ORION Project  |  Nature Computational Science (under review)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11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Box 7"/>
          <p:cNvSpPr/>
          <p:nvPr/>
        </p:nvSpPr>
        <p:spPr>
          <a:xfrm>
            <a:off x="365760" y="1188720"/>
            <a:ext cx="11429640" cy="23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Classifier accuracy (93.4%) is in-distribution — generalisation to novel hardware not yet characterised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Multi-node clusters: 4-node experiments show ΔθB ≈ +0.05; full characterisation open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MoE models: W_eff = W_param × (k/N_exp) + W_act + W_kv shifts Rᴄ; per-model classification needed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Speculative decoding: draft + target models may occupy different regimes simultaneously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Hysteresis (regime memory) observed across boundary crossings — theoretical characterisation open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T_sync lower bound T_sync_min = K · c_o not yet analytically derived (future work C1)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θᴄ prediction error ≤ 2.4%; θʙ ≤ 4.7% on PCIe; larger for proprietary links (Inferentia2: ~12.4%)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365760" y="5394960"/>
            <a:ext cx="11429640" cy="11426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548640" y="544068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78644"/>
                </a:solidFill>
                <a:latin typeface="Calibri"/>
              </a:rPr>
              <a:t>Key insight — technology evolution does not remove regimes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TextBox 10"/>
          <p:cNvSpPr/>
          <p:nvPr/>
        </p:nvSpPr>
        <p:spPr>
          <a:xfrm>
            <a:off x="548640" y="57607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HBM expansion, CXL pooling, disaggregated memory shift boundaries but do not eliminate phase structure.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Once transfer demand approaches sustained bandwidth ceiling, dominant latency term changes regardless of absolute values.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0" y="5486400"/>
            <a:ext cx="12188520" cy="13712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548640" y="27432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Summary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Rectangle 4"/>
          <p:cNvSpPr/>
          <p:nvPr/>
        </p:nvSpPr>
        <p:spPr>
          <a:xfrm>
            <a:off x="45720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Rectangle 5"/>
          <p:cNvSpPr/>
          <p:nvPr/>
        </p:nvSpPr>
        <p:spPr>
          <a:xfrm>
            <a:off x="45720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6"/>
          <p:cNvSpPr/>
          <p:nvPr/>
        </p:nvSpPr>
        <p:spPr>
          <a:xfrm>
            <a:off x="68580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Three intrinsic regimes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TextBox 7"/>
          <p:cNvSpPr/>
          <p:nvPr/>
        </p:nvSpPr>
        <p:spPr>
          <a:xfrm>
            <a:off x="68580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Capacity-limited / Coordination-dominated / I/O-limited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—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separated by abrupt, phase-like transitions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0" name="Rectangle 8"/>
          <p:cNvSpPr/>
          <p:nvPr/>
        </p:nvSpPr>
        <p:spPr>
          <a:xfrm>
            <a:off x="45720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9"/>
          <p:cNvSpPr/>
          <p:nvPr/>
        </p:nvSpPr>
        <p:spPr>
          <a:xfrm>
            <a:off x="45720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10"/>
          <p:cNvSpPr/>
          <p:nvPr/>
        </p:nvSpPr>
        <p:spPr>
          <a:xfrm>
            <a:off x="68580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Two computable ratios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TextBox 11"/>
          <p:cNvSpPr/>
          <p:nvPr/>
        </p:nvSpPr>
        <p:spPr>
          <a:xfrm>
            <a:off x="68580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Rᴄ = Cfast/W  and  Rʙ = Bslow·Δt/D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—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derivable from datasheets before any experiment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Rectangle 12"/>
          <p:cNvSpPr/>
          <p:nvPr/>
        </p:nvSpPr>
        <p:spPr>
          <a:xfrm>
            <a:off x="621792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13"/>
          <p:cNvSpPr/>
          <p:nvPr/>
        </p:nvSpPr>
        <p:spPr>
          <a:xfrm>
            <a:off x="621792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4"/>
          <p:cNvSpPr/>
          <p:nvPr/>
        </p:nvSpPr>
        <p:spPr>
          <a:xfrm>
            <a:off x="644652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Rankings invert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644652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FlexGen −24% → +8–12% across boundaries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—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regime-agnostic design is structurally unsound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Rectangle 16"/>
          <p:cNvSpPr/>
          <p:nvPr/>
        </p:nvSpPr>
        <p:spPr>
          <a:xfrm>
            <a:off x="621792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17"/>
          <p:cNvSpPr/>
          <p:nvPr/>
        </p:nvSpPr>
        <p:spPr>
          <a:xfrm>
            <a:off x="621792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8"/>
          <p:cNvSpPr/>
          <p:nvPr/>
        </p:nvSpPr>
        <p:spPr>
          <a:xfrm>
            <a:off x="644652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a356e"/>
                </a:solidFill>
                <a:latin typeface="Calibri"/>
              </a:rPr>
              <a:t>Orion reaches 86–92%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TextBox 19"/>
          <p:cNvSpPr/>
          <p:nvPr/>
        </p:nvSpPr>
        <p:spPr>
          <a:xfrm>
            <a:off x="644652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of structural lower bound across 5 platforms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— </a:t>
            </a: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residual 8–14% is irreducible T_sync physics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TextBox 20"/>
          <p:cNvSpPr/>
          <p:nvPr/>
        </p:nvSpPr>
        <p:spPr>
          <a:xfrm>
            <a:off x="365760" y="5623560"/>
            <a:ext cx="11429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"The first question for any memory-bound inference system should be not 'how much more coordination?'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but 'in which regime does the system operate?'"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2026-06-29T09:27:14Z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