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ORION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BDD7EE"/>
                </a:solidFill>
                <a:latin typeface="Calibri"/>
              </a:rPr>
              <a:t>Hierarchical Memory Orchestration in AI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BDD7EE"/>
                </a:solidFill>
                <a:latin typeface="Calibri"/>
              </a:rPr>
              <a:t>Exhibits Intrinsic Regime-Dependent Limits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3657600" cy="381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D7EE"/>
                </a:solidFill>
                <a:latin typeface="Calibri"/>
              </a:rPr>
              <a:t>Nature Computational Science  ·  Under Review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Geunsik Lim et al.  |  Samsung Electronics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Internal presentation — for colleagues in related research departments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Why does memory orchestration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404040"/>
                </a:solidFill>
                <a:latin typeface="Calibri"/>
              </a:rPr>
              <a:t>  • Modern LLMs exceed accelerator VRAM → weights spill to host DRAM / NVMe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404040"/>
                </a:solidFill>
                <a:latin typeface="Calibri"/>
              </a:rPr>
              <a:t>  • Inference cost now dominates lifetime resource footprint of foundation models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404040"/>
                </a:solidFill>
                <a:latin typeface="Calibri"/>
              </a:rPr>
              <a:t>  • Memory bandwidth &amp; capacity — not arithmetic — are the binding constraints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404040"/>
                </a:solidFill>
                <a:latin typeface="Calibri"/>
              </a:rPr>
              <a:t>  • I/O-limited operation reduces throughput-per-Watt by &gt; 3× vs. optimal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404040"/>
                </a:solidFill>
                <a:latin typeface="Calibri"/>
              </a:rPr>
              <a:t>  • CO₂ penalty: 15.8 g → 42.5 g per 10⁶ tokens at IEA 2024 carbon intensity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1133856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Core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56E"/>
                </a:solidFill>
                <a:latin typeface="Calibri"/>
              </a:rPr>
              <a:t>Is hierarchical memory orchestration a continuously optimisable problem,
or does it admit intrinsic boundaries beyond which additional coordination
cannot improve — and can worsen — end-to-end latency?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Operational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Defined by two dimensionless control ratios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657600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Fast-memory residency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Rᴄ = Cfast / 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840480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Transfer-pressure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Rʙ = Bslow · Δt /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D7D31"/>
                </a:solidFill>
                <a:latin typeface="Calibri"/>
              </a:rPr>
              <a:t>θᴄ ≈ 0.50    θʙ ≈ 0.40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  <a:latin typeface="Calibri"/>
              </a:rPr>
              <a:t>empirically calibrated thresholds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86000"/>
            <a:ext cx="3520440" cy="3474720"/>
          </a:xfrm>
          <a:prstGeom prst="rect">
            <a:avLst/>
          </a:prstGeom>
          <a:solidFill>
            <a:srgbClr val="FFE6CC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286000"/>
            <a:ext cx="3520440" cy="3474720"/>
          </a:xfrm>
          <a:prstGeom prst="rect">
            <a:avLst/>
          </a:prstGeom>
          <a:solidFill>
            <a:srgbClr val="E2EFDA"/>
          </a:solidFill>
          <a:ln w="254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286000"/>
            <a:ext cx="3520440" cy="3474720"/>
          </a:xfrm>
          <a:prstGeom prst="rect">
            <a:avLst/>
          </a:prstGeom>
          <a:solidFill>
            <a:srgbClr val="FFE0E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3774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6E"/>
                </a:solidFill>
                <a:latin typeface="Calibri"/>
              </a:rPr>
              <a:t>① Capacity-Limited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34640"/>
            <a:ext cx="3246120" cy="365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529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Rᴄ &lt; θᴄ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29184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Fast memory cannot hold the working set.
Frequent eviction &amp; reloading.
Orchestration yields ≤ 5% gain.
Primary lever: increase HBM or quantise.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3774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6E"/>
                </a:solidFill>
                <a:latin typeface="Calibri"/>
              </a:rPr>
              <a:t>② Coordination-Dominated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834640"/>
            <a:ext cx="3246120" cy="36576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8529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Rᴄ ≥ θᴄ  and  Rʙ ≥ θʙ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29184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All four latency terms balanced.
Orchestration most effective here.
18–27% latency reduction achievable.
Ideal region for FlexGen, vLLM, Orion.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3774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6E"/>
                </a:solidFill>
                <a:latin typeface="Calibri"/>
              </a:rPr>
              <a:t>③ I/O-Limited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834640"/>
            <a:ext cx="324612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8529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Rʙ &lt; θʙ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29184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PCIe bandwidth saturated.
Extra coordination adds overhead.
Aggressive offloading worsens by 8–12%.
Primary lever: reduce transfer volume 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Analytical Model &amp; Lower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Eq. 1–3 from the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14300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Calibri"/>
              </a:rPr>
              <a:t>Latency decomposition  (Eq.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56E"/>
                </a:solidFill>
                <a:latin typeface="Calibri"/>
              </a:rPr>
              <a:t>T_total  =  T_comp  +  T_mem  +  T_swap  +  T_sync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1430000" cy="14630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Structural lower bound  (Eq. 3)  — independent of orchestration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56E"/>
                </a:solidFill>
                <a:latin typeface="Calibri"/>
              </a:rPr>
              <a:t>T_total  ≥  ρ·W·max(0, 1−Rᴄ)  +  D / Bslow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First term: irreducible memory-access penalty from evicted working-set data (Mattson 1970)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Second term: minimum DMA transfer time for D compulsory bytes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T_sync excluded — represents coordination overhead reducible but not eliminated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Orion achieves 86–92% of lower bound; residual 8–14% ≈ irreducible T_sync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Worked Example — Llama-3 8B on A100 80 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Any practitioner can compute these from datasheets + model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035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Hardware + model 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W (working set)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41.8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47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Calibri"/>
              </a:rPr>
              <a:t>param 16 + act 17.2 + KV 8.6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7744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Cfast (HBM)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80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249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Calibri"/>
              </a:rPr>
              <a:t>A100 80 GB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5468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Bslow (PCIe Gen4)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16.1 GB/s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5021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Calibri"/>
              </a:rPr>
              <a:t>sustained host→device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3192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D (per step)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1.2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793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Calibri"/>
              </a:rPr>
              <a:t>compulsory-only; R_C &gt;&gt; θ_C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0916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Δt (step duration)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120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056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Calibri"/>
              </a:rPr>
              <a:t>measured wall-clock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143000"/>
            <a:ext cx="5852160" cy="5029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78644"/>
                </a:solidFill>
                <a:latin typeface="Calibri"/>
              </a:rPr>
              <a:t>Computed ratios &amp; regime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60020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Rᴄ = Cfast / 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947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Calibri"/>
              </a:rPr>
              <a:t>= 80 / 41.8 = 1.92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286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8644"/>
                </a:solidFill>
                <a:latin typeface="Calibri"/>
              </a:rPr>
              <a:t>&gt;&gt; θᴄ = 0.50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78892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Rʙ = Bslow·Δt /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363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Calibri"/>
              </a:rPr>
              <a:t>= 16.1×0.12 / 1.2 = 1.61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474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8644"/>
                </a:solidFill>
                <a:latin typeface="Calibri"/>
              </a:rPr>
              <a:t>&gt;&gt; θʙ = 0.40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97764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Regime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325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Calibri"/>
              </a:rPr>
              <a:t>COORDINATION-DOMINATED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663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8644"/>
                </a:solidFill>
                <a:latin typeface="Calibri"/>
              </a:rPr>
              <a:t>orchestration profitable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Result — Strategy Ranking Inversion (Table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The same method can help in one regime and harm in another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1288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20700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Capacity-Limited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20700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Coordination-Dominated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20700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I/O-Limited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1161288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PyTorch 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04288"/>
            <a:ext cx="11612880" cy="640080"/>
          </a:xfrm>
          <a:prstGeom prst="rect">
            <a:avLst/>
          </a:prstGeom>
          <a:solidFill>
            <a:srgbClr val="FF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957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FlexGen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395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−1.5%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3957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Calibri"/>
              </a:rPr>
              <a:t>+24.0%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3957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8644"/>
                </a:solidFill>
                <a:latin typeface="Calibri"/>
              </a:rPr>
              <a:t>−8.0%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62656"/>
            <a:ext cx="11612880" cy="640080"/>
          </a:xfrm>
          <a:prstGeom prst="rect">
            <a:avLst/>
          </a:prstGeom>
          <a:solidFill>
            <a:srgbClr val="FF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0540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DeepSpeed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05409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−2.0%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0540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Calibri"/>
              </a:rPr>
              <a:t>+18.0%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0540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−5.0%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21024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7124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SwapAdvisor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71246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−0.5%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7124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8644"/>
                </a:solidFill>
                <a:latin typeface="Calibri"/>
              </a:rPr>
              <a:t>−10.0%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712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Calibri"/>
              </a:rPr>
              <a:t>+5.0%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279392"/>
            <a:ext cx="1161288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3708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vLLM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3708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Calibri"/>
              </a:rPr>
              <a:t>+1.0%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3708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8644"/>
                </a:solidFill>
                <a:latin typeface="Calibri"/>
              </a:rPr>
              <a:t>−13.0%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3708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8644"/>
                </a:solidFill>
                <a:latin typeface="Calibri"/>
              </a:rPr>
              <a:t>−6.0%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937760"/>
            <a:ext cx="116128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56E"/>
                </a:solidFill>
                <a:latin typeface="Calibri"/>
              </a:rPr>
              <a:t>Orion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5029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Calibri"/>
              </a:rPr>
              <a:t>−4.0%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8644"/>
                </a:solidFill>
                <a:latin typeface="Calibri"/>
              </a:rPr>
              <a:t>−20.5%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8644"/>
                </a:solidFill>
                <a:latin typeface="Calibri"/>
              </a:rPr>
              <a:t>−10.5%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↑ Red = latency increase (worse than baseline)    ↓ Green = improvement &gt; 5%
FlexGen improves in coord-dominated but HURTS by +24% — ranking fully inverts across boundaries.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Workload Generality — Beyond LLMs (Table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BLIP2  ·  RAG  ·  YOLOv8 all exhibit three-regime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65760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56E"/>
                </a:solidFill>
                <a:latin typeface="Calibri"/>
              </a:rPr>
              <a:t>BLIP2-VQA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Visual question-answering
(vision + language fusion)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3383280" cy="41148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414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Coord-Dominated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986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Calibri"/>
              </a:rPr>
              <a:t>Rc=0.62  Rb=1.10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FlexGen: +24%
vLLM: −13%
Orion: −20.5%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65760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80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56E"/>
                </a:solidFill>
                <a:latin typeface="Calibri"/>
              </a:rPr>
              <a:t>RAG
(Llama-3)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Retrieval-augmented generation
(dense retrieval + decode)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423160"/>
            <a:ext cx="3383280" cy="41148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4414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Coord-Dominated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986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Calibri"/>
              </a:rPr>
              <a:t>Rc=0.58  Rb=0.85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375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FlexGen: +24%
vLLM: −13%
Orion: −20.5%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2801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56E"/>
                </a:solidFill>
                <a:latin typeface="Calibri"/>
              </a:rPr>
              <a:t>YOLOv8
(edge)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Object detection inference
(non-autoregressive)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2423160"/>
            <a:ext cx="33832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4414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Capacity-Limited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8986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Calibri"/>
              </a:rPr>
              <a:t>Rc=0.38  Rb=0.35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3375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FlexGen: −1.5%
vLLM: N/A*
Orion: −4%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* vLLM not applicable to YOLOv8 (non-token-based).  All three non-LLM workloads confirm the same three-regime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Regime Classifier &amp; Orion_Full vs Orion_HW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Ablation study — how much does the classifier contribute?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035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Calibri"/>
              </a:rPr>
              <a:t>Classifier (depth-3 CART decision tree)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  <a:latin typeface="Calibri"/>
              </a:rPr>
              <a:t>  • Training: 2,400 probing measurements, 5 platforms, 3 regimes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  <a:latin typeface="Calibri"/>
              </a:rPr>
              <a:t>  • Cross-validated accuracy: 93.4% ± 1.2%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  <a:latin typeface="Calibri"/>
              </a:rPr>
              <a:t>  • Inference cost: &lt; 0.1 ms  (runs every 100 ms)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  <a:latin typeface="Calibri"/>
              </a:rPr>
              <a:t>  • Features: swap/comp ratio, L2 hit rate, DMA utilisation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  <a:latin typeface="Calibri"/>
              </a:rPr>
              <a:t>  • Hysteresis guard: 2 consecutive windows to trigger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56E"/>
                </a:solidFill>
                <a:latin typeface="Calibri"/>
              </a:rPr>
              <a:t>Decision tree: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  Rᴄ &lt; 0.50?  →  yes → CAPACITY-LIMITED
              →  no  → Rʙ &lt; 0.40?
                          →  yes → I/O-LIMITED
                          →  no  → COORDINATION-DOMINATED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143000"/>
            <a:ext cx="5852160" cy="5029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Ablation: Orion_HW vs Orion_Full  (Table D.1)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5486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Calibri"/>
              </a:rPr>
              <a:t>Orion_HW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860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NUMA + process pinning
+ GPU-tailored swapping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0116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5B6"/>
                </a:solidFill>
                <a:latin typeface="Calibri"/>
              </a:rPr>
              <a:t>−3.8 to −8.3%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154680"/>
            <a:ext cx="5486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200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56E"/>
                </a:solidFill>
                <a:latin typeface="Calibri"/>
              </a:rPr>
              <a:t>+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03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100-ms regime loop
adaptive strategy switch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29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356E"/>
                </a:solidFill>
                <a:latin typeface="Calibri"/>
              </a:rPr>
              <a:t>−1.1 to −18.8%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572000"/>
            <a:ext cx="5486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617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Classifier
contribution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20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  <a:latin typeface="Calibri"/>
              </a:rPr>
              <a:t>fraction of total 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846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Calibri"/>
              </a:rPr>
              <a:t>21 – 76%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Lower Bound Achievability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How close does Orion get to the physical optimum?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Achievability τ = T_lower / T_Orion
at regime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86–92%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43200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Residual gap
≈ irreducible T_sync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745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8–14%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Boundary consistency
across 5 hardware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±0.05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743200" cy="1645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Sharpness S at θᴄ
(S* = 2.0 → abrupt transition)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8745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Platform coverage: A100 80GB · TPU v4 · AWS Inferentia2 · AMD MI250 · Intel Optane-PMem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Boundary identified when dominant latency term changes by &gt; 1 s.d. across 5 sweeps × 30 windows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Wilcoxon signed-rank test: near-boundary S &gt; S* = 2.0 at p &lt; 0.05; interior p &gt; 0.40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T_sync measured directly via cudaStreamSynchronize + ncclAllReduce CUPTI wrappers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  <a:latin typeface="Calibri"/>
              </a:rPr>
              <a:t>  • 4-term sum agrees with wall-clock within ≤ 3% (mean 1.8%, s.d. 0.6%)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Practical Prescriptions by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Immediately actionable from two ratios — no exhaustive sweep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94760" cy="5029200"/>
          </a:xfrm>
          <a:prstGeom prst="rect">
            <a:avLst/>
          </a:prstGeom>
          <a:solidFill>
            <a:srgbClr val="F2F2F2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794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① Capacity-Limited  (Rᴄ &lt; 0.50)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3611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↑ Increase HBM capacity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↓ Reduce batch size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↓ Apply weight quantisation (shrinks W)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✗ Avoid adding coordination overhead (≤ 5% return)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θᴄ = 0.50 (hardware-independent, error ≤ 2.4%)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94760" cy="5029200"/>
          </a:xfrm>
          <a:prstGeom prst="rect">
            <a:avLst/>
          </a:prstGeom>
          <a:solidFill>
            <a:srgbClr val="F2F2F2"/>
          </a:solidFill>
          <a:ln w="254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94760" cy="5029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161288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② Coordination-Dominated  (Rᴄ ≥ 0.50, Rʙ ≥ 0.40)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691640"/>
            <a:ext cx="3611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↑ Pipelining + KV-cache management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↑ Cross-tier overlap (compute ‖ DMA)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↑ Lazy synchronisation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18–27% latency reduction achievable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This is the design target of FlexGen / vLLM / Orion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143000"/>
            <a:ext cx="3794760" cy="5029200"/>
          </a:xfrm>
          <a:prstGeom prst="rect">
            <a:avLst/>
          </a:prstGeom>
          <a:solidFill>
            <a:srgbClr val="F2F2F2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1143000"/>
            <a:ext cx="379476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8" y="1161288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③ I/O-Limited  (Rʙ &lt; 0.40)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1691640"/>
            <a:ext cx="3611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↓ Reduce transfer volume D (not add scheduling)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↓ Smaller swap granularity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↓ Selective layer offloading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✗ Aggressive offloading WORSENS by 8–12%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  θʙ = R_B_sat × (1 + α_wb + α_q)  (error ≤ 4.7% on PCIe)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D7EE"/>
                </a:solidFill>
                <a:latin typeface="Calibri"/>
              </a:rPr>
              <a:t>Known constraints and open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 — Internal Sharing Only  |  ORION Project  |  Nature Computational Science (under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562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404040"/>
                </a:solidFill>
                <a:latin typeface="Calibri"/>
              </a:rPr>
              <a:t>  • Classifier accuracy (93.4%) is in-distribution — generalisation to novel hardware not yet characterised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404040"/>
                </a:solidFill>
                <a:latin typeface="Calibri"/>
              </a:rPr>
              <a:t>  • Multi-node clusters: 4-node experiments show ΔθB ≈ +0.05; full characterisation open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404040"/>
                </a:solidFill>
                <a:latin typeface="Calibri"/>
              </a:rPr>
              <a:t>  • MoE models: W_eff = W_param × (k/N_exp) + W_act + W_kv shifts Rᴄ; per-model classification needed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404040"/>
                </a:solidFill>
                <a:latin typeface="Calibri"/>
              </a:rPr>
              <a:t>  • Speculative decoding: draft + target models may occupy different regimes simultaneously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404040"/>
                </a:solidFill>
                <a:latin typeface="Calibri"/>
              </a:rPr>
              <a:t>  • Hysteresis (regime memory) observed across boundary crossings — theoretical characterisation open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404040"/>
                </a:solidFill>
                <a:latin typeface="Calibri"/>
              </a:rPr>
              <a:t>  • T_sync lower bound T_sync_min = K · c_o not yet analytically derived (future work C1)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404040"/>
                </a:solidFill>
                <a:latin typeface="Calibri"/>
              </a:rPr>
              <a:t>  • θᴄ prediction error ≤ 2.4%; θʙ ≤ 4.7% on PCIe; larger for proprietary links (Inferentia2: ~12.4%)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94960"/>
            <a:ext cx="11430000" cy="11430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8644"/>
                </a:solidFill>
                <a:latin typeface="Calibri"/>
              </a:rPr>
              <a:t>Key insight — technology evolution does not remove regimes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HBM expansion, CXL pooling, disaggregated memory shift boundaries but do not eliminate phase structure.
Once transfer demand approaches sustained bandwidth ceiling, dominant latency term changes regardless of absolute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6E"/>
                </a:solidFill>
                <a:latin typeface="Calibri"/>
              </a:rPr>
              <a:t>Three intrinsic regimes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Capacity-limited / Coordination-dominated / I/O-limited
— separated by abrupt, phase-like transitions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09728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6E"/>
                </a:solidFill>
                <a:latin typeface="Calibri"/>
              </a:rPr>
              <a:t>Two computable ratios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Rᴄ = Cfast/W  and  Rʙ = Bslow·Δt/D
— derivable from datasheets before any experiment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109728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6E"/>
                </a:solidFill>
                <a:latin typeface="Calibri"/>
              </a:rPr>
              <a:t>Rankings invert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FlexGen −24% → +8–12% across boundaries
— regime-agnostic design is structurally unsound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109728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56E"/>
                </a:solidFill>
                <a:latin typeface="Calibri"/>
              </a:rPr>
              <a:t>Orion reaches 86–92%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of structural lower bound across 5 platforms
— residual 8–14% is irreducible T_sync physics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6235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"The first question for any memory-bound inference system should be not 'how much more coordination?'
but 'in which regime does the system operate?'"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